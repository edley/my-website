
<file path=[Content_Types].xml><?xml version="1.0" encoding="utf-8"?>
<Types xmlns="http://schemas.openxmlformats.org/package/2006/content-types">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5" d="100"/>
          <a:sy n="55" d="100"/>
        </p:scale>
        <p:origin x="1096"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C5F3714-6E8C-43C4-9B68-CAD9A5FA966B}"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F5E4F9-64E3-4C91-B0C0-0AF3192A6923}" type="slidenum">
              <a:rPr lang="en-US" smtClean="0"/>
              <a:t>‹#›</a:t>
            </a:fld>
            <a:endParaRPr lang="en-US"/>
          </a:p>
        </p:txBody>
      </p:sp>
    </p:spTree>
    <p:extLst>
      <p:ext uri="{BB962C8B-B14F-4D97-AF65-F5344CB8AC3E}">
        <p14:creationId xmlns:p14="http://schemas.microsoft.com/office/powerpoint/2010/main" val="3064939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5F3714-6E8C-43C4-9B68-CAD9A5FA966B}"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F5E4F9-64E3-4C91-B0C0-0AF3192A6923}" type="slidenum">
              <a:rPr lang="en-US" smtClean="0"/>
              <a:t>‹#›</a:t>
            </a:fld>
            <a:endParaRPr lang="en-US"/>
          </a:p>
        </p:txBody>
      </p:sp>
    </p:spTree>
    <p:extLst>
      <p:ext uri="{BB962C8B-B14F-4D97-AF65-F5344CB8AC3E}">
        <p14:creationId xmlns:p14="http://schemas.microsoft.com/office/powerpoint/2010/main" val="4004608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5F3714-6E8C-43C4-9B68-CAD9A5FA966B}"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F5E4F9-64E3-4C91-B0C0-0AF3192A6923}" type="slidenum">
              <a:rPr lang="en-US" smtClean="0"/>
              <a:t>‹#›</a:t>
            </a:fld>
            <a:endParaRPr lang="en-US"/>
          </a:p>
        </p:txBody>
      </p:sp>
    </p:spTree>
    <p:extLst>
      <p:ext uri="{BB962C8B-B14F-4D97-AF65-F5344CB8AC3E}">
        <p14:creationId xmlns:p14="http://schemas.microsoft.com/office/powerpoint/2010/main" val="783331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C5F3714-6E8C-43C4-9B68-CAD9A5FA966B}"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F5E4F9-64E3-4C91-B0C0-0AF3192A6923}" type="slidenum">
              <a:rPr lang="en-US" smtClean="0"/>
              <a:t>‹#›</a:t>
            </a:fld>
            <a:endParaRPr lang="en-US"/>
          </a:p>
        </p:txBody>
      </p:sp>
    </p:spTree>
    <p:extLst>
      <p:ext uri="{BB962C8B-B14F-4D97-AF65-F5344CB8AC3E}">
        <p14:creationId xmlns:p14="http://schemas.microsoft.com/office/powerpoint/2010/main" val="3472008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C5F3714-6E8C-43C4-9B68-CAD9A5FA966B}"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F5E4F9-64E3-4C91-B0C0-0AF3192A6923}" type="slidenum">
              <a:rPr lang="en-US" smtClean="0"/>
              <a:t>‹#›</a:t>
            </a:fld>
            <a:endParaRPr lang="en-US"/>
          </a:p>
        </p:txBody>
      </p:sp>
    </p:spTree>
    <p:extLst>
      <p:ext uri="{BB962C8B-B14F-4D97-AF65-F5344CB8AC3E}">
        <p14:creationId xmlns:p14="http://schemas.microsoft.com/office/powerpoint/2010/main" val="1073190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C5F3714-6E8C-43C4-9B68-CAD9A5FA966B}"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F5E4F9-64E3-4C91-B0C0-0AF3192A6923}" type="slidenum">
              <a:rPr lang="en-US" smtClean="0"/>
              <a:t>‹#›</a:t>
            </a:fld>
            <a:endParaRPr lang="en-US"/>
          </a:p>
        </p:txBody>
      </p:sp>
    </p:spTree>
    <p:extLst>
      <p:ext uri="{BB962C8B-B14F-4D97-AF65-F5344CB8AC3E}">
        <p14:creationId xmlns:p14="http://schemas.microsoft.com/office/powerpoint/2010/main" val="386437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5F3714-6E8C-43C4-9B68-CAD9A5FA966B}"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F5E4F9-64E3-4C91-B0C0-0AF3192A6923}" type="slidenum">
              <a:rPr lang="en-US" smtClean="0"/>
              <a:t>‹#›</a:t>
            </a:fld>
            <a:endParaRPr lang="en-US"/>
          </a:p>
        </p:txBody>
      </p:sp>
    </p:spTree>
    <p:extLst>
      <p:ext uri="{BB962C8B-B14F-4D97-AF65-F5344CB8AC3E}">
        <p14:creationId xmlns:p14="http://schemas.microsoft.com/office/powerpoint/2010/main" val="4236802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5F3714-6E8C-43C4-9B68-CAD9A5FA966B}"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F5E4F9-64E3-4C91-B0C0-0AF3192A6923}" type="slidenum">
              <a:rPr lang="en-US" smtClean="0"/>
              <a:t>‹#›</a:t>
            </a:fld>
            <a:endParaRPr lang="en-US"/>
          </a:p>
        </p:txBody>
      </p:sp>
    </p:spTree>
    <p:extLst>
      <p:ext uri="{BB962C8B-B14F-4D97-AF65-F5344CB8AC3E}">
        <p14:creationId xmlns:p14="http://schemas.microsoft.com/office/powerpoint/2010/main" val="2763177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5F3714-6E8C-43C4-9B68-CAD9A5FA966B}"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F5E4F9-64E3-4C91-B0C0-0AF3192A6923}" type="slidenum">
              <a:rPr lang="en-US" smtClean="0"/>
              <a:t>‹#›</a:t>
            </a:fld>
            <a:endParaRPr lang="en-US"/>
          </a:p>
        </p:txBody>
      </p:sp>
    </p:spTree>
    <p:extLst>
      <p:ext uri="{BB962C8B-B14F-4D97-AF65-F5344CB8AC3E}">
        <p14:creationId xmlns:p14="http://schemas.microsoft.com/office/powerpoint/2010/main" val="3875742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5F3714-6E8C-43C4-9B68-CAD9A5FA966B}"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F5E4F9-64E3-4C91-B0C0-0AF3192A6923}" type="slidenum">
              <a:rPr lang="en-US" smtClean="0"/>
              <a:t>‹#›</a:t>
            </a:fld>
            <a:endParaRPr lang="en-US"/>
          </a:p>
        </p:txBody>
      </p:sp>
    </p:spTree>
    <p:extLst>
      <p:ext uri="{BB962C8B-B14F-4D97-AF65-F5344CB8AC3E}">
        <p14:creationId xmlns:p14="http://schemas.microsoft.com/office/powerpoint/2010/main" val="1560129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5F3714-6E8C-43C4-9B68-CAD9A5FA966B}"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F5E4F9-64E3-4C91-B0C0-0AF3192A6923}" type="slidenum">
              <a:rPr lang="en-US" smtClean="0"/>
              <a:t>‹#›</a:t>
            </a:fld>
            <a:endParaRPr lang="en-US"/>
          </a:p>
        </p:txBody>
      </p:sp>
    </p:spTree>
    <p:extLst>
      <p:ext uri="{BB962C8B-B14F-4D97-AF65-F5344CB8AC3E}">
        <p14:creationId xmlns:p14="http://schemas.microsoft.com/office/powerpoint/2010/main" val="2328020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5F3714-6E8C-43C4-9B68-CAD9A5FA966B}" type="datetimeFigureOut">
              <a:rPr lang="en-US" smtClean="0"/>
              <a:t>5/7/2026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F5E4F9-64E3-4C91-B0C0-0AF3192A6923}" type="slidenum">
              <a:rPr lang="en-US" smtClean="0"/>
              <a:t>‹#›</a:t>
            </a:fld>
            <a:endParaRPr lang="en-US"/>
          </a:p>
        </p:txBody>
      </p:sp>
    </p:spTree>
    <p:extLst>
      <p:ext uri="{BB962C8B-B14F-4D97-AF65-F5344CB8AC3E}">
        <p14:creationId xmlns:p14="http://schemas.microsoft.com/office/powerpoint/2010/main" val="568840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Edley.mathias@gmail.com" TargetMode="External"/><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Edley.mathias@gmail.com" TargetMode="External"/><Relationship Id="rId2" Type="http://schemas.openxmlformats.org/officeDocument/2006/relationships/image" Target="../media/image1.jf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86B9C2C-C629-48DA-91DD-BD0FFD903A21}"/>
              </a:ext>
            </a:extLst>
          </p:cNvPr>
          <p:cNvSpPr/>
          <p:nvPr/>
        </p:nvSpPr>
        <p:spPr>
          <a:xfrm>
            <a:off x="0" y="0"/>
            <a:ext cx="2286000" cy="6858000"/>
          </a:xfrm>
          <a:prstGeom prst="rect">
            <a:avLst/>
          </a:prstGeom>
          <a:solidFill>
            <a:srgbClr val="002060"/>
          </a:solidFill>
          <a:ln w="25400" cap="flat">
            <a:noFill/>
            <a:prstDash val="solid"/>
            <a:round/>
          </a:ln>
          <a:effectLst>
            <a:outerShdw dist="88900" algn="l" rotWithShape="0">
              <a:prstClr val="black">
                <a:alpha val="15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2060"/>
              </a:solidFill>
              <a:effectLst/>
              <a:uFillTx/>
              <a:latin typeface="+mn-lt"/>
              <a:ea typeface="+mn-ea"/>
              <a:cs typeface="+mn-cs"/>
              <a:sym typeface="Calibri"/>
            </a:endParaRPr>
          </a:p>
        </p:txBody>
      </p:sp>
      <p:pic>
        <p:nvPicPr>
          <p:cNvPr id="6" name="Picture 5">
            <a:extLst>
              <a:ext uri="{FF2B5EF4-FFF2-40B4-BE49-F238E27FC236}">
                <a16:creationId xmlns:a16="http://schemas.microsoft.com/office/drawing/2014/main" id="{A7AB042D-E957-4C99-A3F7-0CCE4A4B890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1968500" cy="2038603"/>
          </a:xfrm>
          <a:prstGeom prst="rect">
            <a:avLst/>
          </a:prstGeom>
        </p:spPr>
      </p:pic>
      <p:sp>
        <p:nvSpPr>
          <p:cNvPr id="7" name="TextBox 6">
            <a:extLst>
              <a:ext uri="{FF2B5EF4-FFF2-40B4-BE49-F238E27FC236}">
                <a16:creationId xmlns:a16="http://schemas.microsoft.com/office/drawing/2014/main" id="{E6762BB4-9878-4D70-92D4-C99AFF054A96}"/>
              </a:ext>
            </a:extLst>
          </p:cNvPr>
          <p:cNvSpPr txBox="1"/>
          <p:nvPr/>
        </p:nvSpPr>
        <p:spPr>
          <a:xfrm>
            <a:off x="2841510" y="101959"/>
            <a:ext cx="8846344" cy="6148093"/>
          </a:xfrm>
          <a:prstGeom prst="rect">
            <a:avLst/>
          </a:prstGeom>
          <a:noFill/>
        </p:spPr>
        <p:txBody>
          <a:bodyPr wrap="square" rtlCol="0">
            <a:spAutoFit/>
          </a:bodyPr>
          <a:lstStyle/>
          <a:p>
            <a:pPr defTabSz="609585"/>
            <a:r>
              <a:rPr lang="en-US" sz="1200" b="1" dirty="0">
                <a:solidFill>
                  <a:schemeClr val="accent1">
                    <a:lumMod val="50000"/>
                  </a:schemeClr>
                </a:solidFill>
                <a:cs typeface="Arial" panose="020B0604020202020204" pitchFamily="34" charset="0"/>
              </a:rPr>
              <a:t>EXPERIENCE SUMMARY</a:t>
            </a:r>
          </a:p>
          <a:p>
            <a:pPr defTabSz="609585"/>
            <a:r>
              <a:rPr lang="en-US" sz="1200" dirty="0">
                <a:solidFill>
                  <a:schemeClr val="accent1">
                    <a:lumMod val="50000"/>
                  </a:schemeClr>
                </a:solidFill>
                <a:cs typeface="Arial" panose="020B0604020202020204" pitchFamily="34" charset="0"/>
              </a:rPr>
              <a:t>25+ years in the Telecommunications industry focusing on Digital transformation, Middleware, OSS/BSS areas. Techno-domain expert, carrying application architecture, design, development in the ERP, Mediation Billing, Enterprise Middleware, Microservices, Order management and orchestration. </a:t>
            </a:r>
          </a:p>
          <a:p>
            <a:pPr defTabSz="609585"/>
            <a:endParaRPr lang="en-US" sz="1200" dirty="0">
              <a:solidFill>
                <a:schemeClr val="accent1">
                  <a:lumMod val="50000"/>
                </a:schemeClr>
              </a:solidFill>
              <a:cs typeface="Arial" panose="020B0604020202020204" pitchFamily="34" charset="0"/>
            </a:endParaRPr>
          </a:p>
          <a:p>
            <a:pPr defTabSz="609585"/>
            <a:r>
              <a:rPr lang="en-US" sz="1200" b="1" dirty="0">
                <a:solidFill>
                  <a:schemeClr val="accent1">
                    <a:lumMod val="50000"/>
                  </a:schemeClr>
                </a:solidFill>
                <a:cs typeface="Arial" panose="020B0604020202020204" pitchFamily="34" charset="0"/>
              </a:rPr>
              <a:t>RELEVANT EXPERIENCE SKILLSET</a:t>
            </a:r>
          </a:p>
          <a:p>
            <a:pPr defTabSz="609585"/>
            <a:endParaRPr lang="en-US" sz="1200" b="1" dirty="0">
              <a:solidFill>
                <a:schemeClr val="accent1">
                  <a:lumMod val="50000"/>
                </a:schemeClr>
              </a:solidFill>
              <a:cs typeface="Arial" panose="020B0604020202020204" pitchFamily="34" charset="0"/>
            </a:endParaRPr>
          </a:p>
          <a:p>
            <a:pPr marL="171450" indent="-171450" algn="just" defTabSz="609585">
              <a:buFont typeface="Arial" panose="020B0604020202020204" pitchFamily="34" charset="0"/>
              <a:buChar char="•"/>
            </a:pPr>
            <a:r>
              <a:rPr lang="en-GB" altLang="en-US" sz="1200" b="1" u="sng">
                <a:solidFill>
                  <a:schemeClr val="accent1">
                    <a:lumMod val="50000"/>
                  </a:schemeClr>
                </a:solidFill>
              </a:rPr>
              <a:t>Austria </a:t>
            </a:r>
            <a:r>
              <a:rPr lang="en-GB" altLang="en-US" sz="1200" b="1" u="sng" dirty="0">
                <a:solidFill>
                  <a:schemeClr val="accent1">
                    <a:lumMod val="50000"/>
                  </a:schemeClr>
                </a:solidFill>
              </a:rPr>
              <a:t>Drei</a:t>
            </a:r>
            <a:r>
              <a:rPr lang="en-GB" altLang="en-US" sz="1200" b="1" dirty="0">
                <a:solidFill>
                  <a:schemeClr val="accent1">
                    <a:lumMod val="50000"/>
                  </a:schemeClr>
                </a:solidFill>
              </a:rPr>
              <a:t>– End-to-End Lead Architect </a:t>
            </a:r>
            <a:r>
              <a:rPr lang="en-GB" altLang="en-US" sz="1200" dirty="0">
                <a:solidFill>
                  <a:schemeClr val="accent1">
                    <a:lumMod val="50000"/>
                  </a:schemeClr>
                </a:solidFill>
              </a:rPr>
              <a:t>– </a:t>
            </a:r>
            <a:r>
              <a:rPr lang="en-US" sz="1200" dirty="0">
                <a:solidFill>
                  <a:schemeClr val="accent1">
                    <a:lumMod val="50000"/>
                  </a:schemeClr>
                </a:solidFill>
              </a:rPr>
              <a:t>Leading a comprehensive end-to-end business, process, and technical assessment of the OSS/BSS ecosystem spanning Wholesale, B2B, and B2C domains from an enterprise architecture perspective. The engagement encompassed evaluation of system architectures, integrations, and technology stacks to identify modernization opportunities and technical debt reduction levers. This strategic due diligence aimed to define an optimization and cost-efficiency model through process streamlining, platform consolidation, and architecture simplification aligned with business objectives and future scalability.</a:t>
            </a:r>
          </a:p>
          <a:p>
            <a:pPr marL="171450" indent="-171450" algn="just" defTabSz="609585">
              <a:buFont typeface="Arial" panose="020B0604020202020204" pitchFamily="34" charset="0"/>
              <a:buChar char="•"/>
            </a:pPr>
            <a:endParaRPr lang="en-GB" altLang="en-US" sz="1200" b="1" u="sng" dirty="0">
              <a:solidFill>
                <a:schemeClr val="accent1">
                  <a:lumMod val="50000"/>
                </a:schemeClr>
              </a:solidFill>
            </a:endParaRPr>
          </a:p>
          <a:p>
            <a:pPr marL="171450" indent="-171450">
              <a:buFont typeface="Arial" panose="020B0604020202020204" pitchFamily="34" charset="0"/>
              <a:buChar char="•"/>
            </a:pPr>
            <a:r>
              <a:rPr lang="en-GB" altLang="en-US" sz="1200" b="1" u="sng" dirty="0">
                <a:solidFill>
                  <a:schemeClr val="accent1">
                    <a:lumMod val="50000"/>
                  </a:schemeClr>
                </a:solidFill>
              </a:rPr>
              <a:t>Oman Ooredoo</a:t>
            </a:r>
            <a:r>
              <a:rPr lang="en-GB" altLang="en-US" sz="1200" b="1" dirty="0">
                <a:solidFill>
                  <a:schemeClr val="accent1">
                    <a:lumMod val="50000"/>
                  </a:schemeClr>
                </a:solidFill>
              </a:rPr>
              <a:t>– End-to-End Architect </a:t>
            </a:r>
            <a:r>
              <a:rPr lang="en-GB" altLang="en-US" sz="1200" dirty="0">
                <a:solidFill>
                  <a:schemeClr val="accent1">
                    <a:lumMod val="50000"/>
                  </a:schemeClr>
                </a:solidFill>
              </a:rPr>
              <a:t>– </a:t>
            </a:r>
            <a:r>
              <a:rPr lang="en-US" sz="1200" dirty="0">
                <a:solidFill>
                  <a:schemeClr val="accent1">
                    <a:lumMod val="50000"/>
                  </a:schemeClr>
                </a:solidFill>
              </a:rPr>
              <a:t>Led the assessment of OSS/BSS systems across mobile and fixed domains, evaluating business processes, architectures, and technologies to identify transformation opportunities. Delivered architectural building blocks and modernization recommendations, incorporating IMS and AMS frameworks within a managed services model to drive efficiency, scalability, and cost optimization.</a:t>
            </a:r>
          </a:p>
          <a:p>
            <a:pPr marL="171450" indent="-171450" algn="just" defTabSz="609585">
              <a:buFont typeface="Arial" panose="020B0604020202020204" pitchFamily="34" charset="0"/>
              <a:buChar char="•"/>
            </a:pPr>
            <a:endParaRPr lang="en-GB" altLang="en-US" sz="1200" dirty="0">
              <a:solidFill>
                <a:schemeClr val="accent1">
                  <a:lumMod val="50000"/>
                </a:schemeClr>
              </a:solidFill>
            </a:endParaRPr>
          </a:p>
          <a:p>
            <a:pPr marL="171450" indent="-171450" algn="just" defTabSz="609585">
              <a:buFont typeface="Arial" panose="020B0604020202020204" pitchFamily="34" charset="0"/>
              <a:buChar char="•"/>
            </a:pPr>
            <a:r>
              <a:rPr lang="en-GB" altLang="en-US" sz="1200" b="1" u="sng" dirty="0">
                <a:solidFill>
                  <a:schemeClr val="accent1">
                    <a:lumMod val="50000"/>
                  </a:schemeClr>
                </a:solidFill>
              </a:rPr>
              <a:t>Orange Business</a:t>
            </a:r>
            <a:r>
              <a:rPr lang="en-GB" altLang="en-US" sz="1200" b="1" dirty="0">
                <a:solidFill>
                  <a:schemeClr val="accent1">
                    <a:lumMod val="50000"/>
                  </a:schemeClr>
                </a:solidFill>
              </a:rPr>
              <a:t>– End-to-End Lead Architect </a:t>
            </a:r>
            <a:r>
              <a:rPr lang="en-GB" altLang="en-US" sz="1200" dirty="0">
                <a:solidFill>
                  <a:schemeClr val="accent1">
                    <a:lumMod val="50000"/>
                  </a:schemeClr>
                </a:solidFill>
              </a:rPr>
              <a:t>– E2E Lead architect for the IOT Next generation architecture stream. Responsible for product modelling, BSS, integration to OSS, Billing and mediation.</a:t>
            </a:r>
          </a:p>
          <a:p>
            <a:pPr marL="171450" indent="-171450" algn="just" defTabSz="609585">
              <a:buFont typeface="Arial" panose="020B0604020202020204" pitchFamily="34" charset="0"/>
              <a:buChar char="•"/>
            </a:pPr>
            <a:endParaRPr lang="en-GB" altLang="en-US" sz="1200" b="1" u="sng" dirty="0">
              <a:solidFill>
                <a:schemeClr val="accent1">
                  <a:lumMod val="50000"/>
                </a:schemeClr>
              </a:solidFill>
            </a:endParaRPr>
          </a:p>
          <a:p>
            <a:pPr marL="171450" indent="-171450" algn="just" defTabSz="609585">
              <a:buFont typeface="Arial" panose="020B0604020202020204" pitchFamily="34" charset="0"/>
              <a:buChar char="•"/>
            </a:pPr>
            <a:r>
              <a:rPr lang="en-GB" altLang="en-US" sz="1200" b="1" u="sng" dirty="0">
                <a:solidFill>
                  <a:schemeClr val="accent1">
                    <a:lumMod val="50000"/>
                  </a:schemeClr>
                </a:solidFill>
              </a:rPr>
              <a:t>Liberty Global </a:t>
            </a:r>
            <a:r>
              <a:rPr lang="en-GB" altLang="en-US" sz="1200" b="1" dirty="0">
                <a:solidFill>
                  <a:schemeClr val="accent1">
                    <a:lumMod val="50000"/>
                  </a:schemeClr>
                </a:solidFill>
              </a:rPr>
              <a:t>– End-to-End Enterprise Architect </a:t>
            </a:r>
            <a:r>
              <a:rPr lang="en-GB" altLang="en-US" sz="1200" dirty="0">
                <a:solidFill>
                  <a:schemeClr val="accent1">
                    <a:lumMod val="50000"/>
                  </a:schemeClr>
                </a:solidFill>
              </a:rPr>
              <a:t>– E2E architect within the connectivity section of Liberty Global for the current multi-tenant </a:t>
            </a:r>
            <a:r>
              <a:rPr lang="en-GB" altLang="en-US" sz="1200" dirty="0" err="1">
                <a:solidFill>
                  <a:schemeClr val="accent1">
                    <a:lumMod val="50000"/>
                  </a:schemeClr>
                </a:solidFill>
              </a:rPr>
              <a:t>OneConnect</a:t>
            </a:r>
            <a:r>
              <a:rPr lang="en-GB" altLang="en-US" sz="1200" dirty="0">
                <a:solidFill>
                  <a:schemeClr val="accent1">
                    <a:lumMod val="50000"/>
                  </a:schemeClr>
                </a:solidFill>
              </a:rPr>
              <a:t> connectivity Platform. Key capabilities are  complete device management capabilities,  AI/ML capabilities, comprehensive touchpoints, such as integrated app, web, SDK and API for tenants to connect to platform. Architecting </a:t>
            </a:r>
            <a:r>
              <a:rPr lang="en-GB" altLang="en-US" sz="1200" dirty="0" err="1">
                <a:solidFill>
                  <a:schemeClr val="accent1">
                    <a:lumMod val="50000"/>
                  </a:schemeClr>
                </a:solidFill>
              </a:rPr>
              <a:t>ConnectAssist</a:t>
            </a:r>
            <a:r>
              <a:rPr lang="en-GB" altLang="en-US" sz="1200" dirty="0">
                <a:solidFill>
                  <a:schemeClr val="accent1">
                    <a:lumMod val="50000"/>
                  </a:schemeClr>
                </a:solidFill>
              </a:rPr>
              <a:t>, a voice assistant that capture vocal  customers request and  execute the right action. </a:t>
            </a:r>
          </a:p>
          <a:p>
            <a:pPr marL="171450" indent="-171450" algn="just" defTabSz="609585">
              <a:buFont typeface="Arial" panose="020B0604020202020204" pitchFamily="34" charset="0"/>
              <a:buChar char="•"/>
            </a:pPr>
            <a:endParaRPr lang="en-GB" altLang="en-US" sz="1200" b="1" u="sng" dirty="0">
              <a:solidFill>
                <a:schemeClr val="accent1">
                  <a:lumMod val="50000"/>
                </a:schemeClr>
              </a:solidFill>
            </a:endParaRPr>
          </a:p>
          <a:p>
            <a:pPr marL="171450" indent="-171450" algn="just" defTabSz="609585">
              <a:buFont typeface="Arial" panose="020B0604020202020204" pitchFamily="34" charset="0"/>
              <a:buChar char="•"/>
            </a:pPr>
            <a:r>
              <a:rPr lang="en-GB" altLang="en-US" sz="1200" b="1" u="sng" dirty="0" err="1">
                <a:solidFill>
                  <a:schemeClr val="accent1">
                    <a:lumMod val="50000"/>
                  </a:schemeClr>
                </a:solidFill>
              </a:rPr>
              <a:t>VirginMedia</a:t>
            </a:r>
            <a:r>
              <a:rPr lang="en-GB" altLang="en-US" sz="1200" b="1" u="sng" dirty="0">
                <a:solidFill>
                  <a:schemeClr val="accent1">
                    <a:lumMod val="50000"/>
                  </a:schemeClr>
                </a:solidFill>
              </a:rPr>
              <a:t> Ireland </a:t>
            </a:r>
            <a:r>
              <a:rPr lang="en-GB" altLang="en-US" sz="1200" b="1" dirty="0">
                <a:solidFill>
                  <a:schemeClr val="accent1">
                    <a:lumMod val="50000"/>
                  </a:schemeClr>
                </a:solidFill>
              </a:rPr>
              <a:t>– End-to-End Retail Solution Architect </a:t>
            </a:r>
            <a:r>
              <a:rPr lang="en-GB" altLang="en-US" sz="1200" dirty="0">
                <a:solidFill>
                  <a:schemeClr val="accent1">
                    <a:lumMod val="50000"/>
                  </a:schemeClr>
                </a:solidFill>
              </a:rPr>
              <a:t>– Leading the major B2C transformation programme in </a:t>
            </a:r>
            <a:r>
              <a:rPr lang="en-GB" altLang="en-US" sz="1200" dirty="0" err="1">
                <a:solidFill>
                  <a:schemeClr val="accent1">
                    <a:lumMod val="50000"/>
                  </a:schemeClr>
                </a:solidFill>
              </a:rPr>
              <a:t>VirginMedia</a:t>
            </a:r>
            <a:r>
              <a:rPr lang="en-GB" altLang="en-US" sz="1200" dirty="0">
                <a:solidFill>
                  <a:schemeClr val="accent1">
                    <a:lumMod val="50000"/>
                  </a:schemeClr>
                </a:solidFill>
              </a:rPr>
              <a:t> Ireland. Onboarding Offnet vendor for Fixed and Mobile services. Architecting new Ordering process and solution for Offnet orders and provisioning.</a:t>
            </a:r>
          </a:p>
          <a:p>
            <a:pPr marL="171450" indent="-171450" algn="just" defTabSz="609585">
              <a:buFont typeface="Arial" panose="020B0604020202020204" pitchFamily="34" charset="0"/>
              <a:buChar char="•"/>
            </a:pPr>
            <a:endParaRPr lang="en-GB" altLang="en-US" sz="1200" b="1" dirty="0">
              <a:solidFill>
                <a:schemeClr val="accent1">
                  <a:lumMod val="50000"/>
                </a:schemeClr>
              </a:solidFill>
            </a:endParaRPr>
          </a:p>
          <a:p>
            <a:pPr marL="171450" indent="-171450" algn="just" defTabSz="609585">
              <a:buFont typeface="Arial" panose="020B0604020202020204" pitchFamily="34" charset="0"/>
              <a:buChar char="•"/>
            </a:pPr>
            <a:endParaRPr lang="en-GB" altLang="en-US" sz="1200" b="1" u="sng" dirty="0">
              <a:solidFill>
                <a:schemeClr val="accent1">
                  <a:lumMod val="50000"/>
                </a:schemeClr>
              </a:solidFill>
            </a:endParaRPr>
          </a:p>
          <a:p>
            <a:pPr defTabSz="609585">
              <a:lnSpc>
                <a:spcPts val="1067"/>
              </a:lnSpc>
            </a:pPr>
            <a:endParaRPr lang="en-US" sz="1200" dirty="0">
              <a:solidFill>
                <a:schemeClr val="accent1">
                  <a:lumMod val="50000"/>
                </a:schemeClr>
              </a:solidFill>
              <a:cs typeface="Arial" panose="020B0604020202020204" pitchFamily="34" charset="0"/>
            </a:endParaRPr>
          </a:p>
        </p:txBody>
      </p:sp>
      <p:cxnSp>
        <p:nvCxnSpPr>
          <p:cNvPr id="8" name="Straight Connector 7">
            <a:extLst>
              <a:ext uri="{FF2B5EF4-FFF2-40B4-BE49-F238E27FC236}">
                <a16:creationId xmlns:a16="http://schemas.microsoft.com/office/drawing/2014/main" id="{0C655A4A-7261-4EA0-8440-E9FC413F3E03}"/>
              </a:ext>
            </a:extLst>
          </p:cNvPr>
          <p:cNvCxnSpPr>
            <a:cxnSpLocks/>
          </p:cNvCxnSpPr>
          <p:nvPr/>
        </p:nvCxnSpPr>
        <p:spPr>
          <a:xfrm>
            <a:off x="2662033" y="0"/>
            <a:ext cx="0" cy="6738257"/>
          </a:xfrm>
          <a:prstGeom prst="line">
            <a:avLst/>
          </a:prstGeom>
          <a:noFill/>
          <a:ln w="6350" cap="flat">
            <a:solidFill>
              <a:srgbClr val="00ACE7"/>
            </a:solidFill>
            <a:prstDash val="solid"/>
            <a:round/>
          </a:ln>
          <a:effectLst/>
          <a:sp3d/>
        </p:spPr>
        <p:style>
          <a:lnRef idx="0">
            <a:scrgbClr r="0" g="0" b="0"/>
          </a:lnRef>
          <a:fillRef idx="0">
            <a:scrgbClr r="0" g="0" b="0"/>
          </a:fillRef>
          <a:effectRef idx="0">
            <a:scrgbClr r="0" g="0" b="0"/>
          </a:effectRef>
          <a:fontRef idx="none"/>
        </p:style>
      </p:cxnSp>
      <p:grpSp>
        <p:nvGrpSpPr>
          <p:cNvPr id="9" name="Group 8">
            <a:extLst>
              <a:ext uri="{FF2B5EF4-FFF2-40B4-BE49-F238E27FC236}">
                <a16:creationId xmlns:a16="http://schemas.microsoft.com/office/drawing/2014/main" id="{783D106C-B761-4012-B817-CC207C846502}"/>
              </a:ext>
            </a:extLst>
          </p:cNvPr>
          <p:cNvGrpSpPr/>
          <p:nvPr/>
        </p:nvGrpSpPr>
        <p:grpSpPr>
          <a:xfrm>
            <a:off x="2570593" y="978327"/>
            <a:ext cx="182880" cy="182880"/>
            <a:chOff x="2570593" y="663690"/>
            <a:chExt cx="182880" cy="182880"/>
          </a:xfrm>
        </p:grpSpPr>
        <p:sp>
          <p:nvSpPr>
            <p:cNvPr id="10" name="Oval 9">
              <a:extLst>
                <a:ext uri="{FF2B5EF4-FFF2-40B4-BE49-F238E27FC236}">
                  <a16:creationId xmlns:a16="http://schemas.microsoft.com/office/drawing/2014/main" id="{B36BF366-0040-46DA-92F0-2A216BE79087}"/>
                </a:ext>
              </a:extLst>
            </p:cNvPr>
            <p:cNvSpPr/>
            <p:nvPr/>
          </p:nvSpPr>
          <p:spPr>
            <a:xfrm>
              <a:off x="2570593" y="663690"/>
              <a:ext cx="182880" cy="182880"/>
            </a:xfrm>
            <a:prstGeom prst="ellipse">
              <a:avLst/>
            </a:prstGeom>
            <a:solidFill>
              <a:schemeClr val="bg1"/>
            </a:solidFill>
            <a:ln w="6350" cap="flat">
              <a:solidFill>
                <a:srgbClr val="00ACE7"/>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11" name="Oval 10">
              <a:extLst>
                <a:ext uri="{FF2B5EF4-FFF2-40B4-BE49-F238E27FC236}">
                  <a16:creationId xmlns:a16="http://schemas.microsoft.com/office/drawing/2014/main" id="{38598653-A522-40A6-817F-92E48454B32E}"/>
                </a:ext>
              </a:extLst>
            </p:cNvPr>
            <p:cNvSpPr/>
            <p:nvPr/>
          </p:nvSpPr>
          <p:spPr>
            <a:xfrm>
              <a:off x="2592637" y="685734"/>
              <a:ext cx="138792" cy="138792"/>
            </a:xfrm>
            <a:prstGeom prst="ellipse">
              <a:avLst/>
            </a:prstGeom>
            <a:solidFill>
              <a:srgbClr val="00ACE7"/>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grpSp>
      <p:grpSp>
        <p:nvGrpSpPr>
          <p:cNvPr id="12" name="Group 11">
            <a:extLst>
              <a:ext uri="{FF2B5EF4-FFF2-40B4-BE49-F238E27FC236}">
                <a16:creationId xmlns:a16="http://schemas.microsoft.com/office/drawing/2014/main" id="{783D106C-B761-4012-B817-CC207C846502}"/>
              </a:ext>
            </a:extLst>
          </p:cNvPr>
          <p:cNvGrpSpPr/>
          <p:nvPr/>
        </p:nvGrpSpPr>
        <p:grpSpPr>
          <a:xfrm>
            <a:off x="2589234" y="4234478"/>
            <a:ext cx="182880" cy="182880"/>
            <a:chOff x="2570593" y="663690"/>
            <a:chExt cx="182880" cy="182880"/>
          </a:xfrm>
        </p:grpSpPr>
        <p:sp>
          <p:nvSpPr>
            <p:cNvPr id="13" name="Oval 12">
              <a:extLst>
                <a:ext uri="{FF2B5EF4-FFF2-40B4-BE49-F238E27FC236}">
                  <a16:creationId xmlns:a16="http://schemas.microsoft.com/office/drawing/2014/main" id="{B36BF366-0040-46DA-92F0-2A216BE79087}"/>
                </a:ext>
              </a:extLst>
            </p:cNvPr>
            <p:cNvSpPr/>
            <p:nvPr/>
          </p:nvSpPr>
          <p:spPr>
            <a:xfrm>
              <a:off x="2570593" y="663690"/>
              <a:ext cx="182880" cy="182880"/>
            </a:xfrm>
            <a:prstGeom prst="ellipse">
              <a:avLst/>
            </a:prstGeom>
            <a:solidFill>
              <a:schemeClr val="bg1"/>
            </a:solidFill>
            <a:ln w="6350" cap="flat">
              <a:solidFill>
                <a:srgbClr val="00ACE7"/>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14" name="Oval 13">
              <a:extLst>
                <a:ext uri="{FF2B5EF4-FFF2-40B4-BE49-F238E27FC236}">
                  <a16:creationId xmlns:a16="http://schemas.microsoft.com/office/drawing/2014/main" id="{38598653-A522-40A6-817F-92E48454B32E}"/>
                </a:ext>
              </a:extLst>
            </p:cNvPr>
            <p:cNvSpPr/>
            <p:nvPr/>
          </p:nvSpPr>
          <p:spPr>
            <a:xfrm>
              <a:off x="2592637" y="685734"/>
              <a:ext cx="138792" cy="138792"/>
            </a:xfrm>
            <a:prstGeom prst="ellipse">
              <a:avLst/>
            </a:prstGeom>
            <a:solidFill>
              <a:srgbClr val="00ACE7"/>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grpSp>
      <p:sp>
        <p:nvSpPr>
          <p:cNvPr id="16" name="Rectangle 15">
            <a:extLst>
              <a:ext uri="{FF2B5EF4-FFF2-40B4-BE49-F238E27FC236}">
                <a16:creationId xmlns:a16="http://schemas.microsoft.com/office/drawing/2014/main" id="{BEAF5D89-17F8-42CC-9149-577592E052B8}"/>
              </a:ext>
            </a:extLst>
          </p:cNvPr>
          <p:cNvSpPr/>
          <p:nvPr/>
        </p:nvSpPr>
        <p:spPr>
          <a:xfrm>
            <a:off x="-2" y="2412338"/>
            <a:ext cx="2308046" cy="3927502"/>
          </a:xfrm>
          <a:prstGeom prst="rect">
            <a:avLst/>
          </a:prstGeom>
        </p:spPr>
        <p:txBody>
          <a:bodyPr wrap="none">
            <a:noAutofit/>
          </a:bodyPr>
          <a:lstStyle/>
          <a:p>
            <a:pPr defTabSz="609585"/>
            <a:r>
              <a:rPr lang="en-US" sz="1200" b="1" dirty="0">
                <a:solidFill>
                  <a:schemeClr val="bg1"/>
                </a:solidFill>
                <a:latin typeface="Arial" panose="020B0604020202020204" pitchFamily="34" charset="0"/>
                <a:cs typeface="Arial" panose="020B0604020202020204" pitchFamily="34" charset="0"/>
              </a:rPr>
              <a:t>Edley Mathias</a:t>
            </a:r>
          </a:p>
          <a:p>
            <a:pPr defTabSz="609585"/>
            <a:r>
              <a:rPr lang="en-US" sz="1200" b="1" dirty="0">
                <a:solidFill>
                  <a:schemeClr val="bg1"/>
                </a:solidFill>
                <a:latin typeface="Arial" panose="020B0604020202020204" pitchFamily="34" charset="0"/>
                <a:cs typeface="Arial" panose="020B0604020202020204" pitchFamily="34" charset="0"/>
              </a:rPr>
              <a:t>Senior Technology Architect</a:t>
            </a:r>
          </a:p>
          <a:p>
            <a:pPr defTabSz="609585"/>
            <a:endParaRPr lang="en-US" sz="1200" b="1" dirty="0">
              <a:solidFill>
                <a:schemeClr val="bg1"/>
              </a:solidFill>
              <a:latin typeface="Arial" panose="020B0604020202020204" pitchFamily="34" charset="0"/>
              <a:cs typeface="Arial" panose="020B0604020202020204" pitchFamily="34" charset="0"/>
            </a:endParaRPr>
          </a:p>
          <a:p>
            <a:pPr defTabSz="609585"/>
            <a:r>
              <a:rPr lang="en-US" sz="1200" b="1" dirty="0">
                <a:solidFill>
                  <a:schemeClr val="bg1"/>
                </a:solidFill>
                <a:latin typeface="Arial" panose="020B0604020202020204" pitchFamily="34" charset="0"/>
                <a:cs typeface="Arial" panose="020B0604020202020204" pitchFamily="34" charset="0"/>
                <a:hlinkClick r:id="rId3"/>
              </a:rPr>
              <a:t>edley.mathias@infosys.com</a:t>
            </a:r>
            <a:endParaRPr lang="en-US" sz="1200" b="1" dirty="0">
              <a:solidFill>
                <a:schemeClr val="bg1"/>
              </a:solidFill>
              <a:latin typeface="Arial" panose="020B0604020202020204" pitchFamily="34" charset="0"/>
              <a:cs typeface="Arial" panose="020B0604020202020204" pitchFamily="34" charset="0"/>
            </a:endParaRPr>
          </a:p>
          <a:p>
            <a:pPr defTabSz="609585"/>
            <a:r>
              <a:rPr lang="en-US" sz="1200" b="1" dirty="0">
                <a:solidFill>
                  <a:schemeClr val="bg1"/>
                </a:solidFill>
                <a:latin typeface="Arial" panose="020B0604020202020204" pitchFamily="34" charset="0"/>
                <a:cs typeface="Arial" panose="020B0604020202020204" pitchFamily="34" charset="0"/>
              </a:rPr>
              <a:t>+31611000862</a:t>
            </a:r>
          </a:p>
          <a:p>
            <a:pPr defTabSz="609585"/>
            <a:r>
              <a:rPr lang="en-US" sz="1200" b="1" dirty="0">
                <a:solidFill>
                  <a:schemeClr val="bg1"/>
                </a:solidFill>
                <a:latin typeface="Arial" panose="020B0604020202020204" pitchFamily="34" charset="0"/>
                <a:cs typeface="Arial" panose="020B0604020202020204" pitchFamily="34" charset="0"/>
              </a:rPr>
              <a:t>3062XJ, Rotterdam</a:t>
            </a:r>
          </a:p>
          <a:p>
            <a:pPr defTabSz="609585"/>
            <a:r>
              <a:rPr lang="en-US" sz="1200" b="1" dirty="0">
                <a:solidFill>
                  <a:schemeClr val="bg1"/>
                </a:solidFill>
                <a:latin typeface="Arial" panose="020B0604020202020204" pitchFamily="34" charset="0"/>
                <a:cs typeface="Arial" panose="020B0604020202020204" pitchFamily="34" charset="0"/>
              </a:rPr>
              <a:t>Netherlands</a:t>
            </a:r>
          </a:p>
          <a:p>
            <a:pPr defTabSz="609585"/>
            <a:endParaRPr lang="en-US" sz="1200" b="1" dirty="0">
              <a:solidFill>
                <a:schemeClr val="bg1"/>
              </a:solidFill>
              <a:latin typeface="Arial" panose="020B0604020202020204" pitchFamily="34" charset="0"/>
              <a:cs typeface="Arial" panose="020B0604020202020204" pitchFamily="34" charset="0"/>
            </a:endParaRPr>
          </a:p>
          <a:p>
            <a:pPr defTabSz="609585"/>
            <a:r>
              <a:rPr lang="en-US" sz="1200" b="1" dirty="0">
                <a:solidFill>
                  <a:schemeClr val="bg1"/>
                </a:solidFill>
                <a:latin typeface="Arial" panose="020B0604020202020204" pitchFamily="34" charset="0"/>
                <a:cs typeface="Arial" panose="020B0604020202020204" pitchFamily="34" charset="0"/>
              </a:rPr>
              <a:t>Language Proficiency</a:t>
            </a:r>
          </a:p>
          <a:p>
            <a:pPr marL="171450" indent="-171450" defTabSz="609585">
              <a:buFontTx/>
              <a:buChar char="-"/>
            </a:pPr>
            <a:r>
              <a:rPr lang="en-US" sz="1200" dirty="0">
                <a:solidFill>
                  <a:schemeClr val="bg1"/>
                </a:solidFill>
                <a:latin typeface="Arial" panose="020B0604020202020204" pitchFamily="34" charset="0"/>
                <a:cs typeface="Arial" panose="020B0604020202020204" pitchFamily="34" charset="0"/>
              </a:rPr>
              <a:t>French</a:t>
            </a:r>
          </a:p>
          <a:p>
            <a:pPr marL="171450" indent="-171450" defTabSz="609585">
              <a:buFontTx/>
              <a:buChar char="-"/>
            </a:pPr>
            <a:r>
              <a:rPr lang="en-US" sz="1200" dirty="0">
                <a:solidFill>
                  <a:schemeClr val="bg1"/>
                </a:solidFill>
                <a:latin typeface="Arial" panose="020B0604020202020204" pitchFamily="34" charset="0"/>
                <a:cs typeface="Arial" panose="020B0604020202020204" pitchFamily="34" charset="0"/>
              </a:rPr>
              <a:t>English</a:t>
            </a:r>
          </a:p>
          <a:p>
            <a:pPr>
              <a:defRPr/>
            </a:pPr>
            <a:endParaRPr lang="en-GB" sz="1200" b="1" dirty="0">
              <a:solidFill>
                <a:schemeClr val="bg1"/>
              </a:solidFill>
              <a:latin typeface="Calibri" panose="020F0502020204030204" pitchFamily="34" charset="0"/>
            </a:endParaRPr>
          </a:p>
          <a:p>
            <a:pPr>
              <a:defRPr/>
            </a:pPr>
            <a:r>
              <a:rPr lang="en-GB" sz="1200" b="1" dirty="0">
                <a:solidFill>
                  <a:schemeClr val="bg1"/>
                </a:solidFill>
                <a:latin typeface="Arial" panose="020B0604020202020204" pitchFamily="34" charset="0"/>
                <a:cs typeface="Arial" panose="020B0604020202020204" pitchFamily="34" charset="0"/>
              </a:rPr>
              <a:t>Certification</a:t>
            </a:r>
          </a:p>
          <a:p>
            <a:pPr marL="171450" indent="-171450">
              <a:buFontTx/>
              <a:buChar char="-"/>
              <a:defRPr/>
            </a:pPr>
            <a:r>
              <a:rPr lang="en-GB" sz="1200" dirty="0">
                <a:solidFill>
                  <a:schemeClr val="bg1"/>
                </a:solidFill>
                <a:latin typeface="Calibri" panose="020F0502020204030204" pitchFamily="34" charset="0"/>
              </a:rPr>
              <a:t>AWS Certified Architect</a:t>
            </a:r>
          </a:p>
          <a:p>
            <a:pPr marL="171450" indent="-171450">
              <a:buFontTx/>
              <a:buChar char="-"/>
              <a:defRPr/>
            </a:pPr>
            <a:r>
              <a:rPr lang="en-GB" sz="1200" dirty="0">
                <a:solidFill>
                  <a:schemeClr val="bg1"/>
                </a:solidFill>
                <a:latin typeface="Calibri" panose="020F0502020204030204" pitchFamily="34" charset="0"/>
              </a:rPr>
              <a:t>Salesforce Certified Architect</a:t>
            </a:r>
          </a:p>
          <a:p>
            <a:pPr marL="171450" indent="-171450">
              <a:buFontTx/>
              <a:buChar char="-"/>
              <a:defRPr/>
            </a:pPr>
            <a:r>
              <a:rPr lang="en-GB" sz="1200" dirty="0">
                <a:solidFill>
                  <a:schemeClr val="bg1"/>
                </a:solidFill>
                <a:latin typeface="Calibri" panose="020F0502020204030204" pitchFamily="34" charset="0"/>
              </a:rPr>
              <a:t>GenAI Certification – Nvidia/Lex</a:t>
            </a:r>
          </a:p>
          <a:p>
            <a:pPr marL="171450" indent="-171450">
              <a:buFontTx/>
              <a:buChar char="-"/>
              <a:defRPr/>
            </a:pPr>
            <a:r>
              <a:rPr lang="en-GB" sz="1200" dirty="0">
                <a:solidFill>
                  <a:schemeClr val="bg1"/>
                </a:solidFill>
                <a:latin typeface="Calibri" panose="020F0502020204030204" pitchFamily="34" charset="0"/>
              </a:rPr>
              <a:t>EITCI Institute AI Certification</a:t>
            </a:r>
          </a:p>
          <a:p>
            <a:pPr defTabSz="609585"/>
            <a:endParaRPr lang="en-US" sz="1200" b="1" dirty="0">
              <a:solidFill>
                <a:schemeClr val="bg1"/>
              </a:solidFill>
              <a:latin typeface="Arial" panose="020B0604020202020204" pitchFamily="34" charset="0"/>
              <a:cs typeface="Arial" panose="020B0604020202020204" pitchFamily="34" charset="0"/>
            </a:endParaRPr>
          </a:p>
        </p:txBody>
      </p:sp>
      <p:grpSp>
        <p:nvGrpSpPr>
          <p:cNvPr id="17" name="Group 16">
            <a:extLst>
              <a:ext uri="{FF2B5EF4-FFF2-40B4-BE49-F238E27FC236}">
                <a16:creationId xmlns:a16="http://schemas.microsoft.com/office/drawing/2014/main" id="{783D106C-B761-4012-B817-CC207C846502}"/>
              </a:ext>
            </a:extLst>
          </p:cNvPr>
          <p:cNvGrpSpPr/>
          <p:nvPr/>
        </p:nvGrpSpPr>
        <p:grpSpPr>
          <a:xfrm>
            <a:off x="2548549" y="221282"/>
            <a:ext cx="182880" cy="182880"/>
            <a:chOff x="2570593" y="663690"/>
            <a:chExt cx="182880" cy="182880"/>
          </a:xfrm>
        </p:grpSpPr>
        <p:sp>
          <p:nvSpPr>
            <p:cNvPr id="18" name="Oval 17">
              <a:extLst>
                <a:ext uri="{FF2B5EF4-FFF2-40B4-BE49-F238E27FC236}">
                  <a16:creationId xmlns:a16="http://schemas.microsoft.com/office/drawing/2014/main" id="{B36BF366-0040-46DA-92F0-2A216BE79087}"/>
                </a:ext>
              </a:extLst>
            </p:cNvPr>
            <p:cNvSpPr/>
            <p:nvPr/>
          </p:nvSpPr>
          <p:spPr>
            <a:xfrm>
              <a:off x="2570593" y="663690"/>
              <a:ext cx="182880" cy="182880"/>
            </a:xfrm>
            <a:prstGeom prst="ellipse">
              <a:avLst/>
            </a:prstGeom>
            <a:solidFill>
              <a:schemeClr val="bg1"/>
            </a:solidFill>
            <a:ln w="6350" cap="flat">
              <a:solidFill>
                <a:srgbClr val="00ACE7"/>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19" name="Oval 18">
              <a:extLst>
                <a:ext uri="{FF2B5EF4-FFF2-40B4-BE49-F238E27FC236}">
                  <a16:creationId xmlns:a16="http://schemas.microsoft.com/office/drawing/2014/main" id="{38598653-A522-40A6-817F-92E48454B32E}"/>
                </a:ext>
              </a:extLst>
            </p:cNvPr>
            <p:cNvSpPr/>
            <p:nvPr/>
          </p:nvSpPr>
          <p:spPr>
            <a:xfrm>
              <a:off x="2592637" y="685734"/>
              <a:ext cx="138792" cy="138792"/>
            </a:xfrm>
            <a:prstGeom prst="ellipse">
              <a:avLst/>
            </a:prstGeom>
            <a:solidFill>
              <a:srgbClr val="00ACE7"/>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grpSp>
    </p:spTree>
    <p:extLst>
      <p:ext uri="{BB962C8B-B14F-4D97-AF65-F5344CB8AC3E}">
        <p14:creationId xmlns:p14="http://schemas.microsoft.com/office/powerpoint/2010/main" val="2511001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BAAE4-EEE7-203A-FBFE-817C33AC1BE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C5F9BDC-C23F-B12A-A265-D9B45B2C98AF}"/>
              </a:ext>
            </a:extLst>
          </p:cNvPr>
          <p:cNvSpPr/>
          <p:nvPr/>
        </p:nvSpPr>
        <p:spPr>
          <a:xfrm>
            <a:off x="0" y="0"/>
            <a:ext cx="2286000" cy="6858000"/>
          </a:xfrm>
          <a:prstGeom prst="rect">
            <a:avLst/>
          </a:prstGeom>
          <a:solidFill>
            <a:srgbClr val="002060"/>
          </a:solidFill>
          <a:ln w="25400" cap="flat">
            <a:noFill/>
            <a:prstDash val="solid"/>
            <a:round/>
          </a:ln>
          <a:effectLst>
            <a:outerShdw dist="88900" algn="l" rotWithShape="0">
              <a:prstClr val="black">
                <a:alpha val="15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pic>
        <p:nvPicPr>
          <p:cNvPr id="6" name="Picture 5">
            <a:extLst>
              <a:ext uri="{FF2B5EF4-FFF2-40B4-BE49-F238E27FC236}">
                <a16:creationId xmlns:a16="http://schemas.microsoft.com/office/drawing/2014/main" id="{BD46AC03-EA66-27B1-0F5A-7F5F0084EF1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1968500" cy="2038603"/>
          </a:xfrm>
          <a:prstGeom prst="rect">
            <a:avLst/>
          </a:prstGeom>
        </p:spPr>
      </p:pic>
      <p:sp>
        <p:nvSpPr>
          <p:cNvPr id="7" name="TextBox 6">
            <a:extLst>
              <a:ext uri="{FF2B5EF4-FFF2-40B4-BE49-F238E27FC236}">
                <a16:creationId xmlns:a16="http://schemas.microsoft.com/office/drawing/2014/main" id="{958E0DBD-BAC7-FE94-F385-EA1B266F9A77}"/>
              </a:ext>
            </a:extLst>
          </p:cNvPr>
          <p:cNvSpPr txBox="1"/>
          <p:nvPr/>
        </p:nvSpPr>
        <p:spPr>
          <a:xfrm>
            <a:off x="2841510" y="101959"/>
            <a:ext cx="8846344" cy="4855432"/>
          </a:xfrm>
          <a:prstGeom prst="rect">
            <a:avLst/>
          </a:prstGeom>
          <a:noFill/>
        </p:spPr>
        <p:txBody>
          <a:bodyPr wrap="square" rtlCol="0">
            <a:spAutoFit/>
          </a:bodyPr>
          <a:lstStyle/>
          <a:p>
            <a:pPr defTabSz="609585"/>
            <a:endParaRPr lang="en-US" sz="1200" dirty="0">
              <a:solidFill>
                <a:schemeClr val="accent1">
                  <a:lumMod val="50000"/>
                </a:schemeClr>
              </a:solidFill>
              <a:cs typeface="Arial" panose="020B0604020202020204" pitchFamily="34" charset="0"/>
            </a:endParaRPr>
          </a:p>
          <a:p>
            <a:pPr defTabSz="609585"/>
            <a:r>
              <a:rPr lang="en-US" sz="1200" b="1" dirty="0">
                <a:solidFill>
                  <a:schemeClr val="accent1">
                    <a:lumMod val="50000"/>
                  </a:schemeClr>
                </a:solidFill>
                <a:cs typeface="Arial" panose="020B0604020202020204" pitchFamily="34" charset="0"/>
              </a:rPr>
              <a:t>RELEVANT EXPERIENCE SKILLSET .. continued</a:t>
            </a:r>
          </a:p>
          <a:p>
            <a:pPr defTabSz="609585"/>
            <a:endParaRPr lang="en-US" sz="1200" b="1" dirty="0">
              <a:solidFill>
                <a:schemeClr val="accent1">
                  <a:lumMod val="50000"/>
                </a:schemeClr>
              </a:solidFill>
              <a:cs typeface="Arial" panose="020B0604020202020204" pitchFamily="34" charset="0"/>
            </a:endParaRPr>
          </a:p>
          <a:p>
            <a:pPr marL="171450" indent="-171450" algn="just" defTabSz="609585">
              <a:buFont typeface="Arial" panose="020B0604020202020204" pitchFamily="34" charset="0"/>
              <a:buChar char="•"/>
            </a:pPr>
            <a:r>
              <a:rPr lang="en-GB" altLang="en-US" sz="1200" b="1" dirty="0">
                <a:solidFill>
                  <a:schemeClr val="accent1">
                    <a:lumMod val="50000"/>
                  </a:schemeClr>
                </a:solidFill>
              </a:rPr>
              <a:t>Liberty Global NETHERLANDS – Head of Solution Architect </a:t>
            </a:r>
            <a:r>
              <a:rPr lang="en-GB" altLang="en-US" sz="1200" dirty="0">
                <a:solidFill>
                  <a:schemeClr val="accent1">
                    <a:lumMod val="50000"/>
                  </a:schemeClr>
                </a:solidFill>
              </a:rPr>
              <a:t>– Leading the rationalisation project for </a:t>
            </a:r>
            <a:r>
              <a:rPr lang="en-GB" altLang="en-US" sz="1200" dirty="0" err="1">
                <a:solidFill>
                  <a:schemeClr val="accent1">
                    <a:lumMod val="50000"/>
                  </a:schemeClr>
                </a:solidFill>
              </a:rPr>
              <a:t>oneMediation</a:t>
            </a:r>
            <a:r>
              <a:rPr lang="en-GB" altLang="en-US" sz="1200" dirty="0">
                <a:solidFill>
                  <a:schemeClr val="accent1">
                    <a:lumMod val="50000"/>
                  </a:schemeClr>
                </a:solidFill>
              </a:rPr>
              <a:t>, </a:t>
            </a:r>
            <a:r>
              <a:rPr lang="en-GB" altLang="en-US" sz="1200" dirty="0" err="1">
                <a:solidFill>
                  <a:schemeClr val="accent1">
                    <a:lumMod val="50000"/>
                  </a:schemeClr>
                </a:solidFill>
              </a:rPr>
              <a:t>OneERP</a:t>
            </a:r>
            <a:r>
              <a:rPr lang="en-GB" altLang="en-US" sz="1200" dirty="0">
                <a:solidFill>
                  <a:schemeClr val="accent1">
                    <a:lumMod val="50000"/>
                  </a:schemeClr>
                </a:solidFill>
              </a:rPr>
              <a:t>, </a:t>
            </a:r>
            <a:r>
              <a:rPr lang="en-GB" altLang="en-US" sz="1200" dirty="0" err="1">
                <a:solidFill>
                  <a:schemeClr val="accent1">
                    <a:lumMod val="50000"/>
                  </a:schemeClr>
                </a:solidFill>
              </a:rPr>
              <a:t>OneOSS</a:t>
            </a:r>
            <a:r>
              <a:rPr lang="en-GB" altLang="en-US" sz="1200" dirty="0">
                <a:solidFill>
                  <a:schemeClr val="accent1">
                    <a:lumMod val="50000"/>
                  </a:schemeClr>
                </a:solidFill>
              </a:rPr>
              <a:t> and </a:t>
            </a:r>
            <a:r>
              <a:rPr lang="en-GB" altLang="en-US" sz="1200" dirty="0" err="1">
                <a:solidFill>
                  <a:schemeClr val="accent1">
                    <a:lumMod val="50000"/>
                  </a:schemeClr>
                </a:solidFill>
              </a:rPr>
              <a:t>OneBSS</a:t>
            </a:r>
            <a:r>
              <a:rPr lang="en-GB" altLang="en-US" sz="1200" dirty="0">
                <a:solidFill>
                  <a:schemeClr val="accent1">
                    <a:lumMod val="50000"/>
                  </a:schemeClr>
                </a:solidFill>
              </a:rPr>
              <a:t>. Architecting a new corporate payment hub. Architecting E2E zero touch provisioning flow. Responsible in managing all the IT demand from VodafoneZiggo.</a:t>
            </a:r>
          </a:p>
          <a:p>
            <a:pPr marL="171450" indent="-171450" algn="just" defTabSz="609585">
              <a:buFont typeface="Arial" panose="020B0604020202020204" pitchFamily="34" charset="0"/>
              <a:buChar char="•"/>
            </a:pPr>
            <a:endParaRPr lang="en-GB" altLang="en-US" sz="1200" b="1" u="sng" dirty="0">
              <a:solidFill>
                <a:schemeClr val="accent1">
                  <a:lumMod val="50000"/>
                </a:schemeClr>
              </a:solidFill>
            </a:endParaRPr>
          </a:p>
          <a:p>
            <a:pPr marL="171450" indent="-171450" algn="just" defTabSz="609585">
              <a:buFont typeface="Arial" panose="020B0604020202020204" pitchFamily="34" charset="0"/>
              <a:buChar char="•"/>
            </a:pPr>
            <a:r>
              <a:rPr lang="en-GB" altLang="en-US" sz="1200" b="1" u="sng" dirty="0">
                <a:solidFill>
                  <a:schemeClr val="accent1">
                    <a:lumMod val="50000"/>
                  </a:schemeClr>
                </a:solidFill>
              </a:rPr>
              <a:t>UPC-CH SWITZERLAND</a:t>
            </a:r>
            <a:r>
              <a:rPr lang="en-GB" altLang="en-US" sz="1200" u="sng" dirty="0">
                <a:solidFill>
                  <a:schemeClr val="accent1">
                    <a:lumMod val="50000"/>
                  </a:schemeClr>
                </a:solidFill>
              </a:rPr>
              <a:t> </a:t>
            </a:r>
            <a:r>
              <a:rPr lang="en-GB" altLang="en-US" sz="1200" dirty="0">
                <a:solidFill>
                  <a:schemeClr val="accent1">
                    <a:lumMod val="50000"/>
                  </a:schemeClr>
                </a:solidFill>
              </a:rPr>
              <a:t>- E2E Lead Digital Architect for a Digital transformation programme for Switzerland Cable operator, UPC, with focus on B2B projects. Key projects and initiatives : Enterprise Content system, Customer Engagement platform,  Converge B2B and B2C to a </a:t>
            </a:r>
            <a:r>
              <a:rPr lang="en-GB" altLang="en-US" sz="1200" dirty="0" err="1">
                <a:solidFill>
                  <a:schemeClr val="accent1">
                    <a:lumMod val="50000"/>
                  </a:schemeClr>
                </a:solidFill>
              </a:rPr>
              <a:t>Onestack</a:t>
            </a:r>
            <a:r>
              <a:rPr lang="en-GB" altLang="en-US" sz="1200" dirty="0">
                <a:solidFill>
                  <a:schemeClr val="accent1">
                    <a:lumMod val="50000"/>
                  </a:schemeClr>
                </a:solidFill>
              </a:rPr>
              <a:t> Strategy, Architect the Self help Digital troubleshooting, Visual IVR, Establish the Microservices strategy.</a:t>
            </a:r>
          </a:p>
          <a:p>
            <a:pPr marL="171450" indent="-171450" algn="just" eaLnBrk="1" hangingPunct="1">
              <a:buFont typeface="Arial" panose="020B0604020202020204" pitchFamily="34" charset="0"/>
              <a:buChar char="•"/>
              <a:defRPr/>
            </a:pPr>
            <a:endParaRPr lang="en-GB" altLang="en-US" sz="1200" dirty="0">
              <a:solidFill>
                <a:schemeClr val="accent1">
                  <a:lumMod val="50000"/>
                </a:schemeClr>
              </a:solidFill>
            </a:endParaRPr>
          </a:p>
          <a:p>
            <a:pPr marL="171450" indent="-171450" algn="just" eaLnBrk="1" hangingPunct="1">
              <a:buFont typeface="Arial" panose="020B0604020202020204" pitchFamily="34" charset="0"/>
              <a:buChar char="•"/>
              <a:defRPr/>
            </a:pPr>
            <a:r>
              <a:rPr lang="en-GB" altLang="en-US" sz="1200" b="1" u="sng" dirty="0">
                <a:solidFill>
                  <a:schemeClr val="accent1">
                    <a:lumMod val="50000"/>
                  </a:schemeClr>
                </a:solidFill>
              </a:rPr>
              <a:t>Proximus BRUSSELS BELGIUM </a:t>
            </a:r>
            <a:r>
              <a:rPr lang="en-GB" altLang="en-US" sz="1200" dirty="0">
                <a:solidFill>
                  <a:schemeClr val="accent1">
                    <a:lumMod val="50000"/>
                  </a:schemeClr>
                </a:solidFill>
              </a:rPr>
              <a:t>- E2E senior Enterprise Architect for a major transformation programme for Belgium Telco Operator - Proximus, with focus on fixed retail and mobile customers  end-to-end provisioning, product modelling and fulfilment.</a:t>
            </a:r>
          </a:p>
          <a:p>
            <a:pPr algn="just" eaLnBrk="1" hangingPunct="1">
              <a:defRPr/>
            </a:pPr>
            <a:endParaRPr lang="en-GB" altLang="en-US" sz="1200" dirty="0">
              <a:solidFill>
                <a:schemeClr val="accent1">
                  <a:lumMod val="50000"/>
                </a:schemeClr>
              </a:solidFill>
            </a:endParaRPr>
          </a:p>
          <a:p>
            <a:pPr marL="171450" indent="-171450" algn="just" eaLnBrk="1" hangingPunct="1">
              <a:buFont typeface="Arial" panose="020B0604020202020204" pitchFamily="34" charset="0"/>
              <a:buChar char="•"/>
              <a:defRPr/>
            </a:pPr>
            <a:r>
              <a:rPr lang="en-GB" altLang="en-US" sz="1200" b="1" u="sng" dirty="0">
                <a:solidFill>
                  <a:schemeClr val="accent1">
                    <a:lumMod val="50000"/>
                  </a:schemeClr>
                </a:solidFill>
              </a:rPr>
              <a:t>TELKOM South Africa </a:t>
            </a:r>
            <a:r>
              <a:rPr lang="en-GB" altLang="en-US" sz="1200" dirty="0">
                <a:solidFill>
                  <a:schemeClr val="accent1">
                    <a:lumMod val="50000"/>
                  </a:schemeClr>
                </a:solidFill>
              </a:rPr>
              <a:t>– Senior Enterprise Architect at  Telkom South African region for retail and  Wholesale - creating, evolving and maintaining EA meta model and standards using TOGAF /TM Forum. Architecting and implementing end-to-end  mobile solution for both prepaid and postpaid market.</a:t>
            </a:r>
          </a:p>
          <a:p>
            <a:pPr marL="171450" indent="-171450" algn="just" eaLnBrk="1" hangingPunct="1">
              <a:buFont typeface="Arial" panose="020B0604020202020204" pitchFamily="34" charset="0"/>
              <a:buChar char="•"/>
              <a:defRPr/>
            </a:pPr>
            <a:endParaRPr lang="en-GB" altLang="en-US" sz="1200" dirty="0">
              <a:solidFill>
                <a:schemeClr val="accent1">
                  <a:lumMod val="50000"/>
                </a:schemeClr>
              </a:solidFill>
            </a:endParaRPr>
          </a:p>
          <a:p>
            <a:pPr marL="171450" indent="-171450" algn="just" eaLnBrk="1" hangingPunct="1">
              <a:buFont typeface="Arial" panose="020B0604020202020204" pitchFamily="34" charset="0"/>
              <a:buChar char="•"/>
              <a:defRPr/>
            </a:pPr>
            <a:r>
              <a:rPr lang="en-GB" altLang="en-US" sz="1200" b="1" u="sng" dirty="0">
                <a:solidFill>
                  <a:schemeClr val="accent1">
                    <a:lumMod val="50000"/>
                  </a:schemeClr>
                </a:solidFill>
              </a:rPr>
              <a:t>France Telecom SOFRECOM </a:t>
            </a:r>
            <a:r>
              <a:rPr lang="en-GB" altLang="en-US" sz="1200" b="1" dirty="0">
                <a:solidFill>
                  <a:schemeClr val="accent1">
                    <a:lumMod val="50000"/>
                  </a:schemeClr>
                </a:solidFill>
              </a:rPr>
              <a:t>– </a:t>
            </a:r>
            <a:r>
              <a:rPr lang="en-GB" altLang="en-US" sz="1200" dirty="0">
                <a:solidFill>
                  <a:schemeClr val="accent1">
                    <a:lumMod val="50000"/>
                  </a:schemeClr>
                </a:solidFill>
              </a:rPr>
              <a:t>Senior Business/Functional Architect for Integration projects (EPC product modelling, Fulfilment, Assurance, Payment solutions, Fraud and Credit Vetting, B2B, B2C, EBU, Wholesale, Mobile), Solution Lead. Setting-up the EA Centre of Excellence establishment</a:t>
            </a:r>
          </a:p>
          <a:p>
            <a:pPr marL="171450" indent="-171450" algn="just" eaLnBrk="1" hangingPunct="1">
              <a:buFont typeface="Arial" panose="020B0604020202020204" pitchFamily="34" charset="0"/>
              <a:buChar char="•"/>
              <a:defRPr/>
            </a:pPr>
            <a:endParaRPr lang="en-GB" altLang="en-US" sz="1200" dirty="0">
              <a:solidFill>
                <a:schemeClr val="accent1">
                  <a:lumMod val="50000"/>
                </a:schemeClr>
              </a:solidFill>
            </a:endParaRPr>
          </a:p>
          <a:p>
            <a:pPr marL="171450" indent="-171450" algn="just" eaLnBrk="1" hangingPunct="1">
              <a:buFont typeface="Arial" panose="020B0604020202020204" pitchFamily="34" charset="0"/>
              <a:buChar char="•"/>
              <a:defRPr/>
            </a:pPr>
            <a:r>
              <a:rPr lang="en-GB" altLang="en-US" sz="1200" b="1" u="sng" dirty="0">
                <a:solidFill>
                  <a:schemeClr val="accent1">
                    <a:lumMod val="50000"/>
                  </a:schemeClr>
                </a:solidFill>
              </a:rPr>
              <a:t>Andersen Consulting MAURITIUS </a:t>
            </a:r>
            <a:r>
              <a:rPr lang="en-GB" altLang="en-US" sz="1200" b="1" dirty="0">
                <a:solidFill>
                  <a:schemeClr val="accent1">
                    <a:lumMod val="50000"/>
                  </a:schemeClr>
                </a:solidFill>
              </a:rPr>
              <a:t>– </a:t>
            </a:r>
            <a:r>
              <a:rPr lang="en-GB" altLang="en-US" sz="1200" dirty="0">
                <a:solidFill>
                  <a:schemeClr val="accent1">
                    <a:lumMod val="50000"/>
                  </a:schemeClr>
                </a:solidFill>
              </a:rPr>
              <a:t>Lead consultant in telecoms and media, with focus on integration, digitalisation and customer experience. Various consulting works over African region.</a:t>
            </a:r>
          </a:p>
          <a:p>
            <a:pPr defTabSz="609585">
              <a:lnSpc>
                <a:spcPts val="1067"/>
              </a:lnSpc>
            </a:pPr>
            <a:endParaRPr lang="en-US" sz="1200" dirty="0">
              <a:solidFill>
                <a:schemeClr val="accent1">
                  <a:lumMod val="50000"/>
                </a:schemeClr>
              </a:solidFill>
              <a:cs typeface="Arial" panose="020B0604020202020204" pitchFamily="34" charset="0"/>
            </a:endParaRPr>
          </a:p>
        </p:txBody>
      </p:sp>
      <p:cxnSp>
        <p:nvCxnSpPr>
          <p:cNvPr id="8" name="Straight Connector 7">
            <a:extLst>
              <a:ext uri="{FF2B5EF4-FFF2-40B4-BE49-F238E27FC236}">
                <a16:creationId xmlns:a16="http://schemas.microsoft.com/office/drawing/2014/main" id="{4EB4E4B1-7DF5-DA38-6AB9-08764C8415DE}"/>
              </a:ext>
            </a:extLst>
          </p:cNvPr>
          <p:cNvCxnSpPr>
            <a:cxnSpLocks/>
          </p:cNvCxnSpPr>
          <p:nvPr/>
        </p:nvCxnSpPr>
        <p:spPr>
          <a:xfrm>
            <a:off x="2662033" y="0"/>
            <a:ext cx="0" cy="6738257"/>
          </a:xfrm>
          <a:prstGeom prst="line">
            <a:avLst/>
          </a:prstGeom>
          <a:noFill/>
          <a:ln w="6350" cap="flat">
            <a:solidFill>
              <a:srgbClr val="00ACE7"/>
            </a:solidFill>
            <a:prstDash val="solid"/>
            <a:round/>
          </a:ln>
          <a:effectLst/>
          <a:sp3d/>
        </p:spPr>
        <p:style>
          <a:lnRef idx="0">
            <a:scrgbClr r="0" g="0" b="0"/>
          </a:lnRef>
          <a:fillRef idx="0">
            <a:scrgbClr r="0" g="0" b="0"/>
          </a:fillRef>
          <a:effectRef idx="0">
            <a:scrgbClr r="0" g="0" b="0"/>
          </a:effectRef>
          <a:fontRef idx="none"/>
        </p:style>
      </p:cxnSp>
      <p:grpSp>
        <p:nvGrpSpPr>
          <p:cNvPr id="9" name="Group 8">
            <a:extLst>
              <a:ext uri="{FF2B5EF4-FFF2-40B4-BE49-F238E27FC236}">
                <a16:creationId xmlns:a16="http://schemas.microsoft.com/office/drawing/2014/main" id="{70A4BD98-9985-392D-4C98-6FBAE53B35E3}"/>
              </a:ext>
            </a:extLst>
          </p:cNvPr>
          <p:cNvGrpSpPr/>
          <p:nvPr/>
        </p:nvGrpSpPr>
        <p:grpSpPr>
          <a:xfrm>
            <a:off x="2570593" y="978327"/>
            <a:ext cx="182880" cy="182880"/>
            <a:chOff x="2570593" y="663690"/>
            <a:chExt cx="182880" cy="182880"/>
          </a:xfrm>
        </p:grpSpPr>
        <p:sp>
          <p:nvSpPr>
            <p:cNvPr id="10" name="Oval 9">
              <a:extLst>
                <a:ext uri="{FF2B5EF4-FFF2-40B4-BE49-F238E27FC236}">
                  <a16:creationId xmlns:a16="http://schemas.microsoft.com/office/drawing/2014/main" id="{408E1B3B-AD20-04F2-1DCD-1CEDF32BBF70}"/>
                </a:ext>
              </a:extLst>
            </p:cNvPr>
            <p:cNvSpPr/>
            <p:nvPr/>
          </p:nvSpPr>
          <p:spPr>
            <a:xfrm>
              <a:off x="2570593" y="663690"/>
              <a:ext cx="182880" cy="182880"/>
            </a:xfrm>
            <a:prstGeom prst="ellipse">
              <a:avLst/>
            </a:prstGeom>
            <a:solidFill>
              <a:schemeClr val="bg1"/>
            </a:solidFill>
            <a:ln w="6350" cap="flat">
              <a:solidFill>
                <a:srgbClr val="00ACE7"/>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11" name="Oval 10">
              <a:extLst>
                <a:ext uri="{FF2B5EF4-FFF2-40B4-BE49-F238E27FC236}">
                  <a16:creationId xmlns:a16="http://schemas.microsoft.com/office/drawing/2014/main" id="{435A0A0F-B015-7A95-5345-F4D4688730FC}"/>
                </a:ext>
              </a:extLst>
            </p:cNvPr>
            <p:cNvSpPr/>
            <p:nvPr/>
          </p:nvSpPr>
          <p:spPr>
            <a:xfrm>
              <a:off x="2592637" y="685734"/>
              <a:ext cx="138792" cy="138792"/>
            </a:xfrm>
            <a:prstGeom prst="ellipse">
              <a:avLst/>
            </a:prstGeom>
            <a:solidFill>
              <a:srgbClr val="00ACE7"/>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grpSp>
      <p:grpSp>
        <p:nvGrpSpPr>
          <p:cNvPr id="12" name="Group 11">
            <a:extLst>
              <a:ext uri="{FF2B5EF4-FFF2-40B4-BE49-F238E27FC236}">
                <a16:creationId xmlns:a16="http://schemas.microsoft.com/office/drawing/2014/main" id="{5B21EDA2-EE36-4834-CC87-2E9F6E8FE617}"/>
              </a:ext>
            </a:extLst>
          </p:cNvPr>
          <p:cNvGrpSpPr/>
          <p:nvPr/>
        </p:nvGrpSpPr>
        <p:grpSpPr>
          <a:xfrm>
            <a:off x="2589234" y="4234478"/>
            <a:ext cx="182880" cy="182880"/>
            <a:chOff x="2570593" y="663690"/>
            <a:chExt cx="182880" cy="182880"/>
          </a:xfrm>
        </p:grpSpPr>
        <p:sp>
          <p:nvSpPr>
            <p:cNvPr id="13" name="Oval 12">
              <a:extLst>
                <a:ext uri="{FF2B5EF4-FFF2-40B4-BE49-F238E27FC236}">
                  <a16:creationId xmlns:a16="http://schemas.microsoft.com/office/drawing/2014/main" id="{88BA4310-C1F9-3627-A9E3-08B2B1DF2BA3}"/>
                </a:ext>
              </a:extLst>
            </p:cNvPr>
            <p:cNvSpPr/>
            <p:nvPr/>
          </p:nvSpPr>
          <p:spPr>
            <a:xfrm>
              <a:off x="2570593" y="663690"/>
              <a:ext cx="182880" cy="182880"/>
            </a:xfrm>
            <a:prstGeom prst="ellipse">
              <a:avLst/>
            </a:prstGeom>
            <a:solidFill>
              <a:schemeClr val="bg1"/>
            </a:solidFill>
            <a:ln w="6350" cap="flat">
              <a:solidFill>
                <a:srgbClr val="00ACE7"/>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14" name="Oval 13">
              <a:extLst>
                <a:ext uri="{FF2B5EF4-FFF2-40B4-BE49-F238E27FC236}">
                  <a16:creationId xmlns:a16="http://schemas.microsoft.com/office/drawing/2014/main" id="{90154FD2-3901-C2E4-7225-CEC6767E6CA2}"/>
                </a:ext>
              </a:extLst>
            </p:cNvPr>
            <p:cNvSpPr/>
            <p:nvPr/>
          </p:nvSpPr>
          <p:spPr>
            <a:xfrm>
              <a:off x="2592637" y="685734"/>
              <a:ext cx="138792" cy="138792"/>
            </a:xfrm>
            <a:prstGeom prst="ellipse">
              <a:avLst/>
            </a:prstGeom>
            <a:solidFill>
              <a:srgbClr val="00ACE7"/>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grpSp>
      <p:sp>
        <p:nvSpPr>
          <p:cNvPr id="16" name="Rectangle 15">
            <a:extLst>
              <a:ext uri="{FF2B5EF4-FFF2-40B4-BE49-F238E27FC236}">
                <a16:creationId xmlns:a16="http://schemas.microsoft.com/office/drawing/2014/main" id="{875EF4E6-18E8-06D8-DBD6-CC3E36224AC1}"/>
              </a:ext>
            </a:extLst>
          </p:cNvPr>
          <p:cNvSpPr/>
          <p:nvPr/>
        </p:nvSpPr>
        <p:spPr>
          <a:xfrm>
            <a:off x="-2" y="2412338"/>
            <a:ext cx="2308046" cy="3927502"/>
          </a:xfrm>
          <a:prstGeom prst="rect">
            <a:avLst/>
          </a:prstGeom>
          <a:solidFill>
            <a:srgbClr val="002060"/>
          </a:solidFill>
        </p:spPr>
        <p:txBody>
          <a:bodyPr wrap="none">
            <a:noAutofit/>
          </a:bodyPr>
          <a:lstStyle/>
          <a:p>
            <a:pPr defTabSz="609585"/>
            <a:r>
              <a:rPr lang="en-US" sz="1200" b="1" dirty="0">
                <a:solidFill>
                  <a:schemeClr val="bg1"/>
                </a:solidFill>
                <a:latin typeface="Arial" panose="020B0604020202020204" pitchFamily="34" charset="0"/>
                <a:cs typeface="Arial" panose="020B0604020202020204" pitchFamily="34" charset="0"/>
              </a:rPr>
              <a:t>Edley Mathias</a:t>
            </a:r>
          </a:p>
          <a:p>
            <a:pPr defTabSz="609585"/>
            <a:r>
              <a:rPr lang="en-US" sz="1200" b="1" dirty="0">
                <a:solidFill>
                  <a:schemeClr val="bg1"/>
                </a:solidFill>
                <a:latin typeface="Arial" panose="020B0604020202020204" pitchFamily="34" charset="0"/>
                <a:cs typeface="Arial" panose="020B0604020202020204" pitchFamily="34" charset="0"/>
              </a:rPr>
              <a:t>Senior Technology Architect</a:t>
            </a:r>
          </a:p>
          <a:p>
            <a:pPr defTabSz="609585"/>
            <a:endParaRPr lang="en-US" sz="1200" b="1" dirty="0">
              <a:solidFill>
                <a:schemeClr val="bg1"/>
              </a:solidFill>
              <a:latin typeface="Arial" panose="020B0604020202020204" pitchFamily="34" charset="0"/>
              <a:cs typeface="Arial" panose="020B0604020202020204" pitchFamily="34" charset="0"/>
            </a:endParaRPr>
          </a:p>
          <a:p>
            <a:pPr defTabSz="609585"/>
            <a:r>
              <a:rPr lang="en-US" sz="1200" b="1" dirty="0">
                <a:solidFill>
                  <a:schemeClr val="bg1"/>
                </a:solidFill>
                <a:latin typeface="Arial" panose="020B0604020202020204" pitchFamily="34" charset="0"/>
                <a:cs typeface="Arial" panose="020B0604020202020204" pitchFamily="34" charset="0"/>
                <a:hlinkClick r:id="rId3"/>
              </a:rPr>
              <a:t>edley.mathias@infosys.com</a:t>
            </a:r>
            <a:endParaRPr lang="en-US" sz="1200" b="1" dirty="0">
              <a:solidFill>
                <a:schemeClr val="bg1"/>
              </a:solidFill>
              <a:latin typeface="Arial" panose="020B0604020202020204" pitchFamily="34" charset="0"/>
              <a:cs typeface="Arial" panose="020B0604020202020204" pitchFamily="34" charset="0"/>
            </a:endParaRPr>
          </a:p>
          <a:p>
            <a:pPr defTabSz="609585"/>
            <a:r>
              <a:rPr lang="en-US" sz="1200" b="1" dirty="0">
                <a:solidFill>
                  <a:schemeClr val="bg1"/>
                </a:solidFill>
                <a:latin typeface="Arial" panose="020B0604020202020204" pitchFamily="34" charset="0"/>
                <a:cs typeface="Arial" panose="020B0604020202020204" pitchFamily="34" charset="0"/>
              </a:rPr>
              <a:t>+31611000862</a:t>
            </a:r>
          </a:p>
          <a:p>
            <a:pPr defTabSz="609585"/>
            <a:r>
              <a:rPr lang="en-US" sz="1200" b="1" dirty="0">
                <a:solidFill>
                  <a:schemeClr val="bg1"/>
                </a:solidFill>
                <a:latin typeface="Arial" panose="020B0604020202020204" pitchFamily="34" charset="0"/>
                <a:cs typeface="Arial" panose="020B0604020202020204" pitchFamily="34" charset="0"/>
              </a:rPr>
              <a:t>3062XJ, Rotterdam</a:t>
            </a:r>
          </a:p>
          <a:p>
            <a:pPr defTabSz="609585"/>
            <a:r>
              <a:rPr lang="en-US" sz="1200" b="1" dirty="0">
                <a:solidFill>
                  <a:schemeClr val="bg1"/>
                </a:solidFill>
                <a:latin typeface="Arial" panose="020B0604020202020204" pitchFamily="34" charset="0"/>
                <a:cs typeface="Arial" panose="020B0604020202020204" pitchFamily="34" charset="0"/>
              </a:rPr>
              <a:t>Netherlands</a:t>
            </a:r>
          </a:p>
          <a:p>
            <a:pPr defTabSz="609585"/>
            <a:endParaRPr lang="en-US" sz="1200" b="1" dirty="0">
              <a:solidFill>
                <a:schemeClr val="bg1"/>
              </a:solidFill>
              <a:latin typeface="Arial" panose="020B0604020202020204" pitchFamily="34" charset="0"/>
              <a:cs typeface="Arial" panose="020B0604020202020204" pitchFamily="34" charset="0"/>
            </a:endParaRPr>
          </a:p>
          <a:p>
            <a:pPr defTabSz="609585"/>
            <a:r>
              <a:rPr lang="en-US" sz="1200" b="1" dirty="0">
                <a:solidFill>
                  <a:schemeClr val="bg1"/>
                </a:solidFill>
                <a:latin typeface="Arial" panose="020B0604020202020204" pitchFamily="34" charset="0"/>
                <a:cs typeface="Arial" panose="020B0604020202020204" pitchFamily="34" charset="0"/>
              </a:rPr>
              <a:t>Language Proficiency</a:t>
            </a:r>
          </a:p>
          <a:p>
            <a:pPr marL="171450" indent="-171450" defTabSz="609585">
              <a:buFontTx/>
              <a:buChar char="-"/>
            </a:pPr>
            <a:r>
              <a:rPr lang="en-US" sz="1200" dirty="0">
                <a:solidFill>
                  <a:schemeClr val="bg1"/>
                </a:solidFill>
                <a:latin typeface="Arial" panose="020B0604020202020204" pitchFamily="34" charset="0"/>
                <a:cs typeface="Arial" panose="020B0604020202020204" pitchFamily="34" charset="0"/>
              </a:rPr>
              <a:t>French</a:t>
            </a:r>
          </a:p>
          <a:p>
            <a:pPr marL="171450" indent="-171450" defTabSz="609585">
              <a:buFontTx/>
              <a:buChar char="-"/>
            </a:pPr>
            <a:r>
              <a:rPr lang="en-US" sz="1200" dirty="0">
                <a:solidFill>
                  <a:schemeClr val="bg1"/>
                </a:solidFill>
                <a:latin typeface="Arial" panose="020B0604020202020204" pitchFamily="34" charset="0"/>
                <a:cs typeface="Arial" panose="020B0604020202020204" pitchFamily="34" charset="0"/>
              </a:rPr>
              <a:t>English</a:t>
            </a:r>
          </a:p>
          <a:p>
            <a:pPr>
              <a:defRPr/>
            </a:pPr>
            <a:endParaRPr lang="en-GB" sz="1200" b="1" dirty="0">
              <a:solidFill>
                <a:schemeClr val="bg1"/>
              </a:solidFill>
              <a:latin typeface="Calibri" panose="020F0502020204030204" pitchFamily="34" charset="0"/>
            </a:endParaRPr>
          </a:p>
          <a:p>
            <a:pPr>
              <a:defRPr/>
            </a:pPr>
            <a:r>
              <a:rPr lang="en-GB" sz="1200" b="1" dirty="0">
                <a:solidFill>
                  <a:schemeClr val="bg1"/>
                </a:solidFill>
                <a:latin typeface="Arial" panose="020B0604020202020204" pitchFamily="34" charset="0"/>
                <a:cs typeface="Arial" panose="020B0604020202020204" pitchFamily="34" charset="0"/>
              </a:rPr>
              <a:t>Key Position held</a:t>
            </a:r>
          </a:p>
          <a:p>
            <a:pPr marL="171450" indent="-171450">
              <a:buFontTx/>
              <a:buChar char="-"/>
              <a:defRPr/>
            </a:pPr>
            <a:r>
              <a:rPr lang="en-GB" sz="1200" dirty="0">
                <a:solidFill>
                  <a:schemeClr val="bg1"/>
                </a:solidFill>
                <a:latin typeface="Calibri" panose="020F0502020204030204" pitchFamily="34" charset="0"/>
              </a:rPr>
              <a:t>OSS/BSS Architect</a:t>
            </a:r>
          </a:p>
          <a:p>
            <a:pPr marL="171450" indent="-171450">
              <a:buFontTx/>
              <a:buChar char="-"/>
              <a:defRPr/>
            </a:pPr>
            <a:r>
              <a:rPr lang="en-GB" sz="1200" dirty="0">
                <a:solidFill>
                  <a:schemeClr val="bg1"/>
                </a:solidFill>
                <a:latin typeface="Calibri" panose="020F0502020204030204" pitchFamily="34" charset="0"/>
              </a:rPr>
              <a:t>Data Architect</a:t>
            </a:r>
          </a:p>
          <a:p>
            <a:pPr marL="171450" indent="-171450">
              <a:buFontTx/>
              <a:buChar char="-"/>
              <a:defRPr/>
            </a:pPr>
            <a:r>
              <a:rPr lang="en-GB" sz="1200" dirty="0">
                <a:solidFill>
                  <a:schemeClr val="bg1"/>
                </a:solidFill>
                <a:latin typeface="Calibri" panose="020F0502020204030204" pitchFamily="34" charset="0"/>
              </a:rPr>
              <a:t>Integration Architect</a:t>
            </a:r>
          </a:p>
          <a:p>
            <a:pPr marL="171450" indent="-171450">
              <a:buFontTx/>
              <a:buChar char="-"/>
              <a:defRPr/>
            </a:pPr>
            <a:r>
              <a:rPr lang="en-GB" sz="1200" dirty="0">
                <a:solidFill>
                  <a:schemeClr val="bg1"/>
                </a:solidFill>
                <a:latin typeface="Calibri" panose="020F0502020204030204" pitchFamily="34" charset="0"/>
              </a:rPr>
              <a:t>Enterprise Architect</a:t>
            </a:r>
          </a:p>
          <a:p>
            <a:pPr defTabSz="609585"/>
            <a:endParaRPr lang="en-US" sz="1200" b="1" dirty="0">
              <a:solidFill>
                <a:schemeClr val="bg1"/>
              </a:solidFill>
              <a:latin typeface="Arial" panose="020B0604020202020204" pitchFamily="34" charset="0"/>
              <a:cs typeface="Arial" panose="020B0604020202020204" pitchFamily="34" charset="0"/>
            </a:endParaRPr>
          </a:p>
        </p:txBody>
      </p:sp>
      <p:grpSp>
        <p:nvGrpSpPr>
          <p:cNvPr id="17" name="Group 16">
            <a:extLst>
              <a:ext uri="{FF2B5EF4-FFF2-40B4-BE49-F238E27FC236}">
                <a16:creationId xmlns:a16="http://schemas.microsoft.com/office/drawing/2014/main" id="{EBA2D6CF-3E82-E18E-4BE8-BA01EBA83C2C}"/>
              </a:ext>
            </a:extLst>
          </p:cNvPr>
          <p:cNvGrpSpPr/>
          <p:nvPr/>
        </p:nvGrpSpPr>
        <p:grpSpPr>
          <a:xfrm>
            <a:off x="2548549" y="221282"/>
            <a:ext cx="182880" cy="182880"/>
            <a:chOff x="2570593" y="663690"/>
            <a:chExt cx="182880" cy="182880"/>
          </a:xfrm>
        </p:grpSpPr>
        <p:sp>
          <p:nvSpPr>
            <p:cNvPr id="18" name="Oval 17">
              <a:extLst>
                <a:ext uri="{FF2B5EF4-FFF2-40B4-BE49-F238E27FC236}">
                  <a16:creationId xmlns:a16="http://schemas.microsoft.com/office/drawing/2014/main" id="{E1EAC11D-1C33-D726-A703-F8929691AF63}"/>
                </a:ext>
              </a:extLst>
            </p:cNvPr>
            <p:cNvSpPr/>
            <p:nvPr/>
          </p:nvSpPr>
          <p:spPr>
            <a:xfrm>
              <a:off x="2570593" y="663690"/>
              <a:ext cx="182880" cy="182880"/>
            </a:xfrm>
            <a:prstGeom prst="ellipse">
              <a:avLst/>
            </a:prstGeom>
            <a:solidFill>
              <a:schemeClr val="bg1"/>
            </a:solidFill>
            <a:ln w="6350" cap="flat">
              <a:solidFill>
                <a:srgbClr val="00ACE7"/>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19" name="Oval 18">
              <a:extLst>
                <a:ext uri="{FF2B5EF4-FFF2-40B4-BE49-F238E27FC236}">
                  <a16:creationId xmlns:a16="http://schemas.microsoft.com/office/drawing/2014/main" id="{C5994FEB-A943-C847-D1C1-A6E0CE178FAE}"/>
                </a:ext>
              </a:extLst>
            </p:cNvPr>
            <p:cNvSpPr/>
            <p:nvPr/>
          </p:nvSpPr>
          <p:spPr>
            <a:xfrm>
              <a:off x="2592637" y="685734"/>
              <a:ext cx="138792" cy="138792"/>
            </a:xfrm>
            <a:prstGeom prst="ellipse">
              <a:avLst/>
            </a:prstGeom>
            <a:solidFill>
              <a:srgbClr val="00ACE7"/>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grpSp>
    </p:spTree>
    <p:extLst>
      <p:ext uri="{BB962C8B-B14F-4D97-AF65-F5344CB8AC3E}">
        <p14:creationId xmlns:p14="http://schemas.microsoft.com/office/powerpoint/2010/main" val="22623925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0819fa7-4367-4500-ba88-dd630d977609}" enabled="1" method="Standard" siteId="{63ce7d59-2f3e-42cd-a8cc-be764cff5eb6}" removed="0"/>
</clbl:labelList>
</file>

<file path=docProps/app.xml><?xml version="1.0" encoding="utf-8"?>
<Properties xmlns="http://schemas.openxmlformats.org/officeDocument/2006/extended-properties" xmlns:vt="http://schemas.openxmlformats.org/officeDocument/2006/docPropsVTypes">
  <TotalTime>144</TotalTime>
  <Words>695</Words>
  <Application>Microsoft Office PowerPoint</Application>
  <PresentationFormat>Widescreen</PresentationFormat>
  <Paragraphs>63</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Liberty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Mathias, Edley (External)</dc:creator>
  <cp:lastModifiedBy>Edley Mathias</cp:lastModifiedBy>
  <cp:revision>25</cp:revision>
  <dcterms:created xsi:type="dcterms:W3CDTF">2022-08-08T08:26:19Z</dcterms:created>
  <dcterms:modified xsi:type="dcterms:W3CDTF">2026-05-07T07:51:48Z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0819fa7-4367-4500-ba88-dd630d977609_Enabled">
    <vt:lpwstr>true</vt:lpwstr>
  </property>
  <property fmtid="{D5CDD505-2E9C-101B-9397-08002B2CF9AE}" pid="3" name="MSIP_Label_a0819fa7-4367-4500-ba88-dd630d977609_SetDate">
    <vt:lpwstr>2024-11-11T05:51:16Z</vt:lpwstr>
  </property>
  <property fmtid="{D5CDD505-2E9C-101B-9397-08002B2CF9AE}" pid="4" name="MSIP_Label_a0819fa7-4367-4500-ba88-dd630d977609_Method">
    <vt:lpwstr>Standard</vt:lpwstr>
  </property>
  <property fmtid="{D5CDD505-2E9C-101B-9397-08002B2CF9AE}" pid="5" name="MSIP_Label_a0819fa7-4367-4500-ba88-dd630d977609_Name">
    <vt:lpwstr>a0819fa7-4367-4500-ba88-dd630d977609</vt:lpwstr>
  </property>
  <property fmtid="{D5CDD505-2E9C-101B-9397-08002B2CF9AE}" pid="6" name="MSIP_Label_a0819fa7-4367-4500-ba88-dd630d977609_SiteId">
    <vt:lpwstr>63ce7d59-2f3e-42cd-a8cc-be764cff5eb6</vt:lpwstr>
  </property>
  <property fmtid="{D5CDD505-2E9C-101B-9397-08002B2CF9AE}" pid="7" name="MSIP_Label_a0819fa7-4367-4500-ba88-dd630d977609_ActionId">
    <vt:lpwstr>88829ddb-d31d-444d-ab13-5746b0dd48ea</vt:lpwstr>
  </property>
  <property fmtid="{D5CDD505-2E9C-101B-9397-08002B2CF9AE}" pid="8" name="MSIP_Label_a0819fa7-4367-4500-ba88-dd630d977609_ContentBits">
    <vt:lpwstr>0</vt:lpwstr>
  </property>
</Properties>
</file>